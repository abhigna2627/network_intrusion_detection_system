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8"/>
  </p:notesMasterIdLst>
  <p:handoutMasterIdLst>
    <p:handoutMasterId r:id="rId19"/>
  </p:handoutMasterIdLst>
  <p:sldIdLst>
    <p:sldId id="338" r:id="rId5"/>
    <p:sldId id="327" r:id="rId6"/>
    <p:sldId id="315" r:id="rId7"/>
    <p:sldId id="329" r:id="rId8"/>
    <p:sldId id="302" r:id="rId9"/>
    <p:sldId id="339" r:id="rId10"/>
    <p:sldId id="340" r:id="rId11"/>
    <p:sldId id="345" r:id="rId12"/>
    <p:sldId id="341" r:id="rId13"/>
    <p:sldId id="342" r:id="rId14"/>
    <p:sldId id="343" r:id="rId15"/>
    <p:sldId id="344"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5033" autoAdjust="0"/>
  </p:normalViewPr>
  <p:slideViewPr>
    <p:cSldViewPr snapToGrid="0">
      <p:cViewPr varScale="1">
        <p:scale>
          <a:sx n="82" d="100"/>
          <a:sy n="82" d="100"/>
        </p:scale>
        <p:origin x="72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1/12/2026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1/12/2026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1/12/2026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1/12/2026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1/12/2026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776956" y="3258749"/>
            <a:ext cx="3400089" cy="861497"/>
          </a:xfrm>
        </p:spPr>
        <p:txBody>
          <a:bodyPr/>
          <a:lstStyle/>
          <a:p>
            <a:pPr algn="r"/>
            <a:r>
              <a:rPr lang="en-US" b="0" dirty="0">
                <a:solidFill>
                  <a:schemeClr val="tx1"/>
                </a:solidFill>
              </a:rPr>
              <a:t>NAME : ABHIGNA M N</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601980" y="2050553"/>
            <a:ext cx="6709611" cy="743448"/>
          </a:xfrm>
        </p:spPr>
        <p:txBody>
          <a:bodyPr>
            <a:normAutofit fontScale="90000"/>
          </a:bodyPr>
          <a:lstStyle/>
          <a:p>
            <a:r>
              <a:rPr lang="en-GB" sz="3200" dirty="0"/>
              <a:t>Project Title - AI Based network intrusion detection system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1">
            <a:extLst>
              <a:ext uri="{FF2B5EF4-FFF2-40B4-BE49-F238E27FC236}">
                <a16:creationId xmlns:a16="http://schemas.microsoft.com/office/drawing/2014/main" id="{824B8A32-9AB3-457E-82E1-C85D3203CE35}"/>
              </a:ext>
            </a:extLst>
          </p:cNvPr>
          <p:cNvSpPr txBox="1">
            <a:spLocks/>
          </p:cNvSpPr>
          <p:nvPr/>
        </p:nvSpPr>
        <p:spPr>
          <a:xfrm>
            <a:off x="6553200" y="29464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8" name="Text Placeholder 1">
            <a:extLst>
              <a:ext uri="{FF2B5EF4-FFF2-40B4-BE49-F238E27FC236}">
                <a16:creationId xmlns:a16="http://schemas.microsoft.com/office/drawing/2014/main" id="{824B8A32-9AB3-457E-82E1-C85D3203CE35}"/>
              </a:ext>
            </a:extLst>
          </p:cNvPr>
          <p:cNvSpPr txBox="1">
            <a:spLocks/>
          </p:cNvSpPr>
          <p:nvPr/>
        </p:nvSpPr>
        <p:spPr>
          <a:xfrm>
            <a:off x="6705600" y="30988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9" name="Text Placeholder 1">
            <a:extLst>
              <a:ext uri="{FF2B5EF4-FFF2-40B4-BE49-F238E27FC236}">
                <a16:creationId xmlns:a16="http://schemas.microsoft.com/office/drawing/2014/main" id="{7201737A-B873-4D1D-8A41-5ABF5184BC8F}"/>
              </a:ext>
            </a:extLst>
          </p:cNvPr>
          <p:cNvSpPr txBox="1">
            <a:spLocks/>
          </p:cNvSpPr>
          <p:nvPr/>
        </p:nvSpPr>
        <p:spPr>
          <a:xfrm>
            <a:off x="4493308" y="4084144"/>
            <a:ext cx="5524452"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r"/>
            <a:r>
              <a:rPr lang="en-US" b="0" dirty="0">
                <a:solidFill>
                  <a:schemeClr val="tx1"/>
                </a:solidFill>
              </a:rPr>
              <a:t>[AICTE ID : STU684d4e83577461749896835]</a:t>
            </a:r>
            <a:endParaRPr lang="en-IN" b="0" dirty="0">
              <a:solidFill>
                <a:schemeClr val="tx1"/>
              </a:solidFill>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nodePh="1">
                                  <p:stCondLst>
                                    <p:cond delay="0"/>
                                  </p:stCondLst>
                                  <p:endCondLst>
                                    <p:cond evt="begin" delay="0">
                                      <p:tn val="35"/>
                                    </p:cond>
                                  </p:endCondLst>
                                  <p:childTnLst>
                                    <p:set>
                                      <p:cBhvr>
                                        <p:cTn id="36" dur="1" fill="hold">
                                          <p:stCondLst>
                                            <p:cond delay="0"/>
                                          </p:stCondLst>
                                        </p:cTn>
                                        <p:tgtEl>
                                          <p:spTgt spid="7"/>
                                        </p:tgtEl>
                                        <p:attrNameLst>
                                          <p:attrName>style.visibility</p:attrName>
                                        </p:attrNameLst>
                                      </p:cBhvr>
                                      <p:to>
                                        <p:strVal val="visible"/>
                                      </p:to>
                                    </p:set>
                                    <p:anim calcmode="lin" valueType="num">
                                      <p:cBhvr>
                                        <p:cTn id="37" dur="500" fill="hold"/>
                                        <p:tgtEl>
                                          <p:spTgt spid="7"/>
                                        </p:tgtEl>
                                        <p:attrNameLst>
                                          <p:attrName>ppt_w</p:attrName>
                                        </p:attrNameLst>
                                      </p:cBhvr>
                                      <p:tavLst>
                                        <p:tav tm="0">
                                          <p:val>
                                            <p:fltVal val="0"/>
                                          </p:val>
                                        </p:tav>
                                        <p:tav tm="100000">
                                          <p:val>
                                            <p:strVal val="#ppt_w"/>
                                          </p:val>
                                        </p:tav>
                                      </p:tavLst>
                                    </p:anim>
                                    <p:anim calcmode="lin" valueType="num">
                                      <p:cBhvr>
                                        <p:cTn id="38" dur="500" fill="hold"/>
                                        <p:tgtEl>
                                          <p:spTgt spid="7"/>
                                        </p:tgtEl>
                                        <p:attrNameLst>
                                          <p:attrName>ppt_h</p:attrName>
                                        </p:attrNameLst>
                                      </p:cBhvr>
                                      <p:tavLst>
                                        <p:tav tm="0">
                                          <p:val>
                                            <p:fltVal val="0"/>
                                          </p:val>
                                        </p:tav>
                                        <p:tav tm="100000">
                                          <p:val>
                                            <p:strVal val="#ppt_h"/>
                                          </p:val>
                                        </p:tav>
                                      </p:tavLst>
                                    </p:anim>
                                    <p:animEffect transition="in" filter="fade">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nodePh="1">
                                  <p:stCondLst>
                                    <p:cond delay="0"/>
                                  </p:stCondLst>
                                  <p:endCondLst>
                                    <p:cond evt="begin" delay="0">
                                      <p:tn val="42"/>
                                    </p:cond>
                                  </p:endCondLst>
                                  <p:childTnLst>
                                    <p:set>
                                      <p:cBhvr>
                                        <p:cTn id="43" dur="1" fill="hold">
                                          <p:stCondLst>
                                            <p:cond delay="0"/>
                                          </p:stCondLst>
                                        </p:cTn>
                                        <p:tgtEl>
                                          <p:spTgt spid="8"/>
                                        </p:tgtEl>
                                        <p:attrNameLst>
                                          <p:attrName>style.visibility</p:attrName>
                                        </p:attrNameLst>
                                      </p:cBhvr>
                                      <p:to>
                                        <p:strVal val="visible"/>
                                      </p:to>
                                    </p:set>
                                    <p:anim calcmode="lin" valueType="num">
                                      <p:cBhvr>
                                        <p:cTn id="44" dur="500" fill="hold"/>
                                        <p:tgtEl>
                                          <p:spTgt spid="8"/>
                                        </p:tgtEl>
                                        <p:attrNameLst>
                                          <p:attrName>ppt_w</p:attrName>
                                        </p:attrNameLst>
                                      </p:cBhvr>
                                      <p:tavLst>
                                        <p:tav tm="0">
                                          <p:val>
                                            <p:fltVal val="0"/>
                                          </p:val>
                                        </p:tav>
                                        <p:tav tm="100000">
                                          <p:val>
                                            <p:strVal val="#ppt_w"/>
                                          </p:val>
                                        </p:tav>
                                      </p:tavLst>
                                    </p:anim>
                                    <p:anim calcmode="lin" valueType="num">
                                      <p:cBhvr>
                                        <p:cTn id="45" dur="500" fill="hold"/>
                                        <p:tgtEl>
                                          <p:spTgt spid="8"/>
                                        </p:tgtEl>
                                        <p:attrNameLst>
                                          <p:attrName>ppt_h</p:attrName>
                                        </p:attrNameLst>
                                      </p:cBhvr>
                                      <p:tavLst>
                                        <p:tav tm="0">
                                          <p:val>
                                            <p:fltVal val="0"/>
                                          </p:val>
                                        </p:tav>
                                        <p:tav tm="100000">
                                          <p:val>
                                            <p:strVal val="#ppt_h"/>
                                          </p:val>
                                        </p:tav>
                                      </p:tavLst>
                                    </p:anim>
                                    <p:animEffect transition="in" filter="fade">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9">
                                            <p:txEl>
                                              <p:pRg st="0" end="0"/>
                                            </p:txEl>
                                          </p:spTgt>
                                        </p:tgtEl>
                                        <p:attrNameLst>
                                          <p:attrName>style.visibility</p:attrName>
                                        </p:attrNameLst>
                                      </p:cBhvr>
                                      <p:to>
                                        <p:strVal val="visible"/>
                                      </p:to>
                                    </p:set>
                                    <p:animEffect transition="in" filter="randombar(horizontal)">
                                      <p:cBhvr>
                                        <p:cTn id="51"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P spid="7" grpId="0"/>
      <p:bldP spid="8" grpId="0"/>
      <p:bldP spid="9"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rmAutofit fontScale="70000" lnSpcReduction="20000"/>
          </a:bodyPr>
          <a:lstStyle/>
          <a:p>
            <a:pPr>
              <a:lnSpc>
                <a:spcPct val="150000"/>
              </a:lnSpc>
            </a:pPr>
            <a:r>
              <a:rPr lang="en-GB" sz="2800" dirty="0"/>
              <a:t>This project aims to design and implement an </a:t>
            </a:r>
            <a:r>
              <a:rPr lang="en-GB" sz="2800" b="1" dirty="0"/>
              <a:t>AI-Based Network Intrusion Detection System (NIDS)</a:t>
            </a:r>
            <a:r>
              <a:rPr lang="en-GB" sz="2800" dirty="0"/>
              <a:t> that uses Machine Learning techniques to identify abnormal network behaviour. The system provides a real-time dashboard for monitoring traffic, classifies activities as normal or malicious, and helps security administrators respond quickly to potential threats.</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r>
              <a:rPr lang="en-GB" sz="2000" dirty="0"/>
              <a:t>The AI-Based Network Intrusion Detection System (NIDS) is designed to detect malicious activities in network traffic using Machine Learning. The system is trained on real cybersecurity data to identify abnormal </a:t>
            </a:r>
            <a:r>
              <a:rPr lang="en-GB" sz="2000" dirty="0" err="1"/>
              <a:t>behavior</a:t>
            </a:r>
            <a:r>
              <a:rPr lang="en-GB" sz="2000" dirty="0"/>
              <a:t> and classify it as normal or attack. It provides a simple web-based dashboard where users can train the model, simulate live network traffic, and instantly see detection results. This project shows how AI can improve network security by making intrusion detection faster, smarter, and more reliable than traditional rule-based systems.</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0BE7D637-B07E-0F19-B005-378C1A162254}"/>
              </a:ext>
            </a:extLst>
          </p:cNvPr>
          <p:cNvSpPr>
            <a:spLocks noGrp="1" noChangeArrowheads="1"/>
          </p:cNvSpPr>
          <p:nvPr>
            <p:ph type="body" sz="quarter" idx="12"/>
          </p:nvPr>
        </p:nvSpPr>
        <p:spPr bwMode="auto">
          <a:xfrm>
            <a:off x="720725" y="1990725"/>
            <a:ext cx="7905750" cy="399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Network Administrators</a:t>
            </a:r>
            <a:r>
              <a:rPr kumimoji="0" lang="en-US" altLang="en-US" sz="1800" b="0" i="0" u="none" strike="noStrike" cap="none" normalizeH="0" baseline="0">
                <a:ln>
                  <a:noFill/>
                </a:ln>
                <a:solidFill>
                  <a:schemeClr val="tx1"/>
                </a:solidFill>
                <a:effectLst/>
                <a:latin typeface="Arial" panose="020B0604020202020204" pitchFamily="34" charset="0"/>
              </a:rPr>
              <a:t> – to monitor traffic and detect intrusions.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Cybersecurity Analysts</a:t>
            </a:r>
            <a:r>
              <a:rPr kumimoji="0" lang="en-US" altLang="en-US" sz="1800" b="0" i="0" u="none" strike="noStrike" cap="none" normalizeH="0" baseline="0">
                <a:ln>
                  <a:noFill/>
                </a:ln>
                <a:solidFill>
                  <a:schemeClr val="tx1"/>
                </a:solidFill>
                <a:effectLst/>
                <a:latin typeface="Arial" panose="020B0604020202020204" pitchFamily="34" charset="0"/>
              </a:rPr>
              <a:t> – to analyze attacks and improve defenses.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IT Security Teams</a:t>
            </a:r>
            <a:r>
              <a:rPr kumimoji="0" lang="en-US" altLang="en-US" sz="1800" b="0" i="0" u="none" strike="noStrike" cap="none" normalizeH="0" baseline="0">
                <a:ln>
                  <a:noFill/>
                </a:ln>
                <a:solidFill>
                  <a:schemeClr val="tx1"/>
                </a:solidFill>
                <a:effectLst/>
                <a:latin typeface="Arial" panose="020B0604020202020204" pitchFamily="34" charset="0"/>
              </a:rPr>
              <a:t> – to protect organizational networks.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Students &amp; Researchers</a:t>
            </a:r>
            <a:r>
              <a:rPr kumimoji="0" lang="en-US" altLang="en-US" sz="1800" b="0" i="0" u="none" strike="noStrike" cap="none" normalizeH="0" baseline="0">
                <a:ln>
                  <a:noFill/>
                </a:ln>
                <a:solidFill>
                  <a:schemeClr val="tx1"/>
                </a:solidFill>
                <a:effectLst/>
                <a:latin typeface="Arial" panose="020B0604020202020204" pitchFamily="34" charset="0"/>
              </a:rPr>
              <a:t> – to learn and experiment with AI in cybersecurity.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Organizations &amp; Enterprises</a:t>
            </a:r>
            <a:r>
              <a:rPr kumimoji="0" lang="en-US" altLang="en-US" sz="1800" b="0" i="0" u="none" strike="noStrike" cap="none" normalizeH="0" baseline="0">
                <a:ln>
                  <a:noFill/>
                </a:ln>
                <a:solidFill>
                  <a:schemeClr val="tx1"/>
                </a:solidFill>
                <a:effectLst/>
                <a:latin typeface="Arial" panose="020B0604020202020204" pitchFamily="34" charset="0"/>
              </a:rPr>
              <a:t> – to enhance overall network security.</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Rectangle 1">
            <a:extLst>
              <a:ext uri="{FF2B5EF4-FFF2-40B4-BE49-F238E27FC236}">
                <a16:creationId xmlns:a16="http://schemas.microsoft.com/office/drawing/2014/main" id="{A5DCC2BD-BA13-4380-3237-359CCB27F369}"/>
              </a:ext>
            </a:extLst>
          </p:cNvPr>
          <p:cNvSpPr>
            <a:spLocks noGrp="1" noChangeArrowheads="1"/>
          </p:cNvSpPr>
          <p:nvPr>
            <p:ph type="body" sz="quarter" idx="12"/>
          </p:nvPr>
        </p:nvSpPr>
        <p:spPr bwMode="auto">
          <a:xfrm>
            <a:off x="1978702" y="3038019"/>
            <a:ext cx="743993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Python</a:t>
            </a:r>
            <a:r>
              <a:rPr kumimoji="0" lang="en-US" altLang="en-US" sz="1800" b="0" i="0" u="none" strike="noStrike" cap="none" normalizeH="0" baseline="0">
                <a:ln>
                  <a:noFill/>
                </a:ln>
                <a:solidFill>
                  <a:schemeClr val="tx1"/>
                </a:solidFill>
                <a:effectLst/>
                <a:latin typeface="Arial" panose="020B0604020202020204" pitchFamily="34" charset="0"/>
              </a:rPr>
              <a:t> – core programming language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Machine Learning (Random Forest)</a:t>
            </a:r>
            <a:r>
              <a:rPr kumimoji="0" lang="en-US" altLang="en-US" sz="1800" b="0" i="0" u="none" strike="noStrike" cap="none" normalizeH="0" baseline="0">
                <a:ln>
                  <a:noFill/>
                </a:ln>
                <a:solidFill>
                  <a:schemeClr val="tx1"/>
                </a:solidFill>
                <a:effectLst/>
                <a:latin typeface="Arial" panose="020B0604020202020204" pitchFamily="34" charset="0"/>
              </a:rPr>
              <a:t> – for intrusion detection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Pandas &amp; NumPy</a:t>
            </a:r>
            <a:r>
              <a:rPr kumimoji="0" lang="en-US" altLang="en-US" sz="1800" b="0" i="0" u="none" strike="noStrike" cap="none" normalizeH="0" baseline="0">
                <a:ln>
                  <a:noFill/>
                </a:ln>
                <a:solidFill>
                  <a:schemeClr val="tx1"/>
                </a:solidFill>
                <a:effectLst/>
                <a:latin typeface="Arial" panose="020B0604020202020204" pitchFamily="34" charset="0"/>
              </a:rPr>
              <a:t> – data processing and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Scikit-learn</a:t>
            </a:r>
            <a:r>
              <a:rPr kumimoji="0" lang="en-US" altLang="en-US" sz="1800" b="0" i="0" u="none" strike="noStrike" cap="none" normalizeH="0" baseline="0">
                <a:ln>
                  <a:noFill/>
                </a:ln>
                <a:solidFill>
                  <a:schemeClr val="tx1"/>
                </a:solidFill>
                <a:effectLst/>
                <a:latin typeface="Arial" panose="020B0604020202020204" pitchFamily="34" charset="0"/>
              </a:rPr>
              <a:t> – ML model training and evaluation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Streamlit</a:t>
            </a:r>
            <a:r>
              <a:rPr kumimoji="0" lang="en-US" altLang="en-US" sz="1800" b="0" i="0" u="none" strike="noStrike" cap="none" normalizeH="0" baseline="0">
                <a:ln>
                  <a:noFill/>
                </a:ln>
                <a:solidFill>
                  <a:schemeClr val="tx1"/>
                </a:solidFill>
                <a:effectLst/>
                <a:latin typeface="Arial" panose="020B0604020202020204" pitchFamily="34" charset="0"/>
              </a:rPr>
              <a:t> – web-based dashboard and UI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CIC-IDS2017 Dataset</a:t>
            </a:r>
            <a:r>
              <a:rPr kumimoji="0" lang="en-US" altLang="en-US" sz="1800" b="0" i="0" u="none" strike="noStrike" cap="none" normalizeH="0" baseline="0">
                <a:ln>
                  <a:noFill/>
                </a:ln>
                <a:solidFill>
                  <a:schemeClr val="tx1"/>
                </a:solidFill>
                <a:effectLst/>
                <a:latin typeface="Arial" panose="020B0604020202020204" pitchFamily="34" charset="0"/>
              </a:rPr>
              <a:t> – real-world network traffic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VS Code</a:t>
            </a:r>
            <a:r>
              <a:rPr kumimoji="0" lang="en-US" altLang="en-US" sz="1800" b="0" i="0" u="none" strike="noStrike" cap="none" normalizeH="0" baseline="0">
                <a:ln>
                  <a:noFill/>
                </a:ln>
                <a:solidFill>
                  <a:schemeClr val="tx1"/>
                </a:solidFill>
                <a:effectLst/>
                <a:latin typeface="Arial" panose="020B0604020202020204" pitchFamily="34" charset="0"/>
              </a:rPr>
              <a:t> – development environment</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descr="A screenshot of a computer">
            <a:extLst>
              <a:ext uri="{FF2B5EF4-FFF2-40B4-BE49-F238E27FC236}">
                <a16:creationId xmlns:a16="http://schemas.microsoft.com/office/drawing/2014/main" id="{A57B743C-D7EF-8764-47F7-724740ABFB08}"/>
              </a:ext>
            </a:extLst>
          </p:cNvPr>
          <p:cNvPicPr>
            <a:picLocks noChangeAspect="1"/>
          </p:cNvPicPr>
          <p:nvPr/>
        </p:nvPicPr>
        <p:blipFill>
          <a:blip r:embed="rId4"/>
          <a:stretch>
            <a:fillRect/>
          </a:stretch>
        </p:blipFill>
        <p:spPr>
          <a:xfrm>
            <a:off x="595298" y="1201586"/>
            <a:ext cx="8863496" cy="5285825"/>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descr="A screenshot of a computer">
            <a:extLst>
              <a:ext uri="{FF2B5EF4-FFF2-40B4-BE49-F238E27FC236}">
                <a16:creationId xmlns:a16="http://schemas.microsoft.com/office/drawing/2014/main" id="{13C2E688-B74D-FD1C-880C-32DD83C19434}"/>
              </a:ext>
            </a:extLst>
          </p:cNvPr>
          <p:cNvPicPr>
            <a:picLocks noChangeAspect="1"/>
          </p:cNvPicPr>
          <p:nvPr/>
        </p:nvPicPr>
        <p:blipFill>
          <a:blip r:embed="rId4"/>
          <a:stretch>
            <a:fillRect/>
          </a:stretch>
        </p:blipFill>
        <p:spPr>
          <a:xfrm>
            <a:off x="479685" y="1316211"/>
            <a:ext cx="8431967" cy="5348749"/>
          </a:xfrm>
          <a:prstGeom prst="rect">
            <a:avLst/>
          </a:prstGeom>
        </p:spPr>
      </p:pic>
    </p:spTree>
    <p:extLst>
      <p:ext uri="{BB962C8B-B14F-4D97-AF65-F5344CB8AC3E}">
        <p14:creationId xmlns:p14="http://schemas.microsoft.com/office/powerpoint/2010/main" val="289115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F7B678-29AD-254E-DD36-1486D3A321E7}"/>
              </a:ext>
            </a:extLst>
          </p:cNvPr>
          <p:cNvSpPr>
            <a:spLocks noGrp="1"/>
          </p:cNvSpPr>
          <p:nvPr>
            <p:ph type="sldNum" sz="quarter" idx="12"/>
          </p:nvPr>
        </p:nvSpPr>
        <p:spPr/>
        <p:txBody>
          <a:bodyPr/>
          <a:lstStyle/>
          <a:p>
            <a:fld id="{D57F1E4F-1CFF-5643-939E-217C01CDF565}" type="slidenum">
              <a:rPr lang="en-US" smtClean="0"/>
              <a:pPr/>
              <a:t>8</a:t>
            </a:fld>
            <a:endParaRPr lang="en-US" dirty="0"/>
          </a:p>
        </p:txBody>
      </p:sp>
      <p:pic>
        <p:nvPicPr>
          <p:cNvPr id="4" name="Picture 3">
            <a:extLst>
              <a:ext uri="{FF2B5EF4-FFF2-40B4-BE49-F238E27FC236}">
                <a16:creationId xmlns:a16="http://schemas.microsoft.com/office/drawing/2014/main" id="{CA4D3FFE-455F-3BD7-4AB5-1E8506909074}"/>
              </a:ext>
            </a:extLst>
          </p:cNvPr>
          <p:cNvPicPr>
            <a:picLocks noChangeAspect="1"/>
          </p:cNvPicPr>
          <p:nvPr/>
        </p:nvPicPr>
        <p:blipFill>
          <a:blip r:embed="rId2"/>
          <a:stretch>
            <a:fillRect/>
          </a:stretch>
        </p:blipFill>
        <p:spPr>
          <a:xfrm>
            <a:off x="591248" y="816964"/>
            <a:ext cx="9134870" cy="5313248"/>
          </a:xfrm>
          <a:prstGeom prst="rect">
            <a:avLst/>
          </a:prstGeom>
        </p:spPr>
      </p:pic>
    </p:spTree>
    <p:extLst>
      <p:ext uri="{BB962C8B-B14F-4D97-AF65-F5344CB8AC3E}">
        <p14:creationId xmlns:p14="http://schemas.microsoft.com/office/powerpoint/2010/main" val="17605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31010" y="601498"/>
            <a:ext cx="8671243" cy="830997"/>
          </a:xfrm>
          <a:prstGeom prst="rect">
            <a:avLst/>
          </a:prstGeom>
        </p:spPr>
        <p:txBody>
          <a:bodyPr>
            <a:normAutofit fontScale="85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Protection from browser attacks</a:t>
            </a:r>
            <a:r>
              <a:rPr lang="en-GB" b="1" dirty="0">
                <a:solidFill>
                  <a:schemeClr val="tx1"/>
                </a:solidFill>
              </a:rPr>
              <a:t> </a:t>
            </a:r>
            <a:endParaRPr lang="en-IN" b="1" dirty="0">
              <a:solidFill>
                <a:schemeClr val="tx1"/>
              </a:solidFill>
            </a:endParaRPr>
          </a:p>
        </p:txBody>
      </p:sp>
      <p:pic>
        <p:nvPicPr>
          <p:cNvPr id="6" name="Picture 5">
            <a:extLst>
              <a:ext uri="{FF2B5EF4-FFF2-40B4-BE49-F238E27FC236}">
                <a16:creationId xmlns:a16="http://schemas.microsoft.com/office/drawing/2014/main" id="{3F64A390-56FA-04F0-1AA4-B71329E18A2D}"/>
              </a:ext>
            </a:extLst>
          </p:cNvPr>
          <p:cNvPicPr>
            <a:picLocks noChangeAspect="1"/>
          </p:cNvPicPr>
          <p:nvPr/>
        </p:nvPicPr>
        <p:blipFill>
          <a:blip r:embed="rId2"/>
          <a:stretch>
            <a:fillRect/>
          </a:stretch>
        </p:blipFill>
        <p:spPr>
          <a:xfrm>
            <a:off x="418436" y="1346479"/>
            <a:ext cx="7851357" cy="4499834"/>
          </a:xfrm>
          <a:prstGeom prst="rect">
            <a:avLst/>
          </a:prstGeom>
        </p:spPr>
      </p:pic>
    </p:spTree>
    <p:extLst>
      <p:ext uri="{BB962C8B-B14F-4D97-AF65-F5344CB8AC3E}">
        <p14:creationId xmlns:p14="http://schemas.microsoft.com/office/powerpoint/2010/main" val="1859795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31010" y="601498"/>
            <a:ext cx="8671243" cy="830997"/>
          </a:xfrm>
          <a:prstGeom prst="rect">
            <a:avLst/>
          </a:prstGeom>
        </p:spPr>
        <p:txBody>
          <a:bodyPr>
            <a:normAutofit fontScale="85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Introduction to System Security</a:t>
            </a:r>
          </a:p>
        </p:txBody>
      </p:sp>
      <p:pic>
        <p:nvPicPr>
          <p:cNvPr id="7" name="Picture 6">
            <a:extLst>
              <a:ext uri="{FF2B5EF4-FFF2-40B4-BE49-F238E27FC236}">
                <a16:creationId xmlns:a16="http://schemas.microsoft.com/office/drawing/2014/main" id="{3AB02155-35F7-CEFA-232B-E1AEE9339AB2}"/>
              </a:ext>
            </a:extLst>
          </p:cNvPr>
          <p:cNvPicPr>
            <a:picLocks noChangeAspect="1"/>
          </p:cNvPicPr>
          <p:nvPr/>
        </p:nvPicPr>
        <p:blipFill>
          <a:blip r:embed="rId2"/>
          <a:stretch>
            <a:fillRect/>
          </a:stretch>
        </p:blipFill>
        <p:spPr>
          <a:xfrm>
            <a:off x="595586" y="1215852"/>
            <a:ext cx="7885223" cy="4583732"/>
          </a:xfrm>
          <a:prstGeom prst="rect">
            <a:avLst/>
          </a:prstGeom>
        </p:spPr>
      </p:pic>
    </p:spTree>
    <p:extLst>
      <p:ext uri="{BB962C8B-B14F-4D97-AF65-F5344CB8AC3E}">
        <p14:creationId xmlns:p14="http://schemas.microsoft.com/office/powerpoint/2010/main" val="2754512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31010" y="601498"/>
            <a:ext cx="8671243" cy="830997"/>
          </a:xfrm>
          <a:prstGeom prst="rect">
            <a:avLst/>
          </a:prstGeom>
        </p:spPr>
        <p:txBody>
          <a:bodyP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Securing Android Devices</a:t>
            </a:r>
          </a:p>
        </p:txBody>
      </p:sp>
      <p:pic>
        <p:nvPicPr>
          <p:cNvPr id="2" name="Picture 1">
            <a:extLst>
              <a:ext uri="{FF2B5EF4-FFF2-40B4-BE49-F238E27FC236}">
                <a16:creationId xmlns:a16="http://schemas.microsoft.com/office/drawing/2014/main" id="{D331AB81-6DA0-7875-DA7C-5D2884CCA0DF}"/>
              </a:ext>
            </a:extLst>
          </p:cNvPr>
          <p:cNvPicPr>
            <a:picLocks noChangeAspect="1"/>
          </p:cNvPicPr>
          <p:nvPr/>
        </p:nvPicPr>
        <p:blipFill>
          <a:blip r:embed="rId2"/>
          <a:stretch>
            <a:fillRect/>
          </a:stretch>
        </p:blipFill>
        <p:spPr>
          <a:xfrm>
            <a:off x="518329" y="1432495"/>
            <a:ext cx="8066145" cy="4526178"/>
          </a:xfrm>
          <a:prstGeom prst="rect">
            <a:avLst/>
          </a:prstGeom>
        </p:spPr>
      </p:pic>
    </p:spTree>
    <p:extLst>
      <p:ext uri="{BB962C8B-B14F-4D97-AF65-F5344CB8AC3E}">
        <p14:creationId xmlns:p14="http://schemas.microsoft.com/office/powerpoint/2010/main" val="3411004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12</a:t>
            </a:fld>
            <a:endParaRPr lang="en-US" dirty="0"/>
          </a:p>
        </p:txBody>
      </p:sp>
      <p:sp>
        <p:nvSpPr>
          <p:cNvPr id="3" name="Title 3">
            <a:extLst>
              <a:ext uri="{FF2B5EF4-FFF2-40B4-BE49-F238E27FC236}">
                <a16:creationId xmlns:a16="http://schemas.microsoft.com/office/drawing/2014/main" id="{AFE3A2AF-177E-45E6-A191-0F8523DB7FFA}"/>
              </a:ext>
            </a:extLst>
          </p:cNvPr>
          <p:cNvSpPr txBox="1">
            <a:spLocks/>
          </p:cNvSpPr>
          <p:nvPr/>
        </p:nvSpPr>
        <p:spPr>
          <a:xfrm>
            <a:off x="371155" y="583026"/>
            <a:ext cx="8671243" cy="830997"/>
          </a:xfrm>
          <a:prstGeom prst="rect">
            <a:avLst/>
          </a:prstGeom>
        </p:spPr>
        <p:txBody>
          <a:bodyP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GitHub link</a:t>
            </a:r>
          </a:p>
        </p:txBody>
      </p:sp>
      <p:sp>
        <p:nvSpPr>
          <p:cNvPr id="5" name="TextBox 4">
            <a:extLst>
              <a:ext uri="{FF2B5EF4-FFF2-40B4-BE49-F238E27FC236}">
                <a16:creationId xmlns:a16="http://schemas.microsoft.com/office/drawing/2014/main" id="{5C264EBF-F583-D859-0A3A-0C431F22CB45}"/>
              </a:ext>
            </a:extLst>
          </p:cNvPr>
          <p:cNvSpPr txBox="1"/>
          <p:nvPr/>
        </p:nvSpPr>
        <p:spPr>
          <a:xfrm>
            <a:off x="449704" y="3075395"/>
            <a:ext cx="9458794" cy="369332"/>
          </a:xfrm>
          <a:prstGeom prst="rect">
            <a:avLst/>
          </a:prstGeom>
          <a:noFill/>
        </p:spPr>
        <p:txBody>
          <a:bodyPr wrap="square">
            <a:spAutoFit/>
          </a:bodyPr>
          <a:lstStyle/>
          <a:p>
            <a:r>
              <a:rPr lang="en-IN" dirty="0"/>
              <a:t>https://github.com/abhigna2627/Network_Intrusion_Detection_System</a:t>
            </a:r>
          </a:p>
        </p:txBody>
      </p:sp>
    </p:spTree>
    <p:extLst>
      <p:ext uri="{BB962C8B-B14F-4D97-AF65-F5344CB8AC3E}">
        <p14:creationId xmlns:p14="http://schemas.microsoft.com/office/powerpoint/2010/main" val="3563231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documentManagement/types"/>
    <ds:schemaRef ds:uri="http://purl.org/dc/elements/1.1/"/>
    <ds:schemaRef ds:uri="71af3243-3dd4-4a8d-8c0d-dd76da1f02a5"/>
    <ds:schemaRef ds:uri="http://schemas.openxmlformats.org/package/2006/metadata/core-properties"/>
    <ds:schemaRef ds:uri="http://purl.org/dc/terms/"/>
    <ds:schemaRef ds:uri="http://www.w3.org/XML/1998/namespace"/>
    <ds:schemaRef ds:uri="http://schemas.microsoft.com/office/2006/metadata/properties"/>
    <ds:schemaRef ds:uri="http://schemas.microsoft.com/office/infopath/2007/PartnerControls"/>
    <ds:schemaRef ds:uri="16c05727-aa75-4e4a-9b5f-8a80a1165891"/>
    <ds:schemaRef ds:uri="http://purl.org/dc/dcmitype/"/>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920</TotalTime>
  <Words>329</Words>
  <Application>Microsoft Office PowerPoint</Application>
  <PresentationFormat>Widescreen</PresentationFormat>
  <Paragraphs>35</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Trebuchet MS</vt:lpstr>
      <vt:lpstr>Wingdings</vt:lpstr>
      <vt:lpstr>Wingdings 3</vt:lpstr>
      <vt:lpstr>Facet</vt:lpstr>
      <vt:lpstr>Project Title - AI Based network intrusion detection system </vt:lpstr>
      <vt:lpstr>PROBLEM  STATEMENT</vt:lpstr>
      <vt:lpstr>Project Description  The AI-Based Network Intrusion Detection System (NIDS) is designed to detect malicious activities in network traffic using Machine Learning. The system is trained on real cybersecurity data to identify abnormal behavior and classify it as normal or attack. It provides a simple web-based dashboard where users can train the model, simulate live network traffic, and instantly see detection results. This project shows how AI can improve network security by making intrusion detection faster, smarter, and more reliable than traditional rule-based systems. </vt:lpstr>
      <vt:lpstr>WHO ARE THE END USERS?</vt:lpstr>
      <vt:lpstr>Technology Used</vt:lpstr>
      <vt:lpstr>RESULTS </vt:lpstr>
      <vt:lpstr>RESULTS </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ABHIGNA M N</cp:lastModifiedBy>
  <cp:revision>82</cp:revision>
  <dcterms:created xsi:type="dcterms:W3CDTF">2021-07-11T13:13:15Z</dcterms:created>
  <dcterms:modified xsi:type="dcterms:W3CDTF">2026-01-12T03:18:30Z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